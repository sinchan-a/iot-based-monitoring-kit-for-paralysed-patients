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302" r:id="rId3"/>
    <p:sldId id="259" r:id="rId4"/>
    <p:sldId id="285" r:id="rId5"/>
    <p:sldId id="283" r:id="rId6"/>
    <p:sldId id="261" r:id="rId7"/>
    <p:sldId id="323" r:id="rId8"/>
    <p:sldId id="307" r:id="rId9"/>
    <p:sldId id="318" r:id="rId10"/>
    <p:sldId id="319" r:id="rId11"/>
    <p:sldId id="324" r:id="rId12"/>
    <p:sldId id="311" r:id="rId13"/>
    <p:sldId id="321" r:id="rId14"/>
    <p:sldId id="322" r:id="rId15"/>
    <p:sldId id="291" r:id="rId16"/>
    <p:sldId id="28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7DF1C5-694F-41C6-9700-311A411E6FD6}">
          <p14:sldIdLst>
            <p14:sldId id="257"/>
            <p14:sldId id="302"/>
            <p14:sldId id="259"/>
            <p14:sldId id="285"/>
            <p14:sldId id="283"/>
            <p14:sldId id="261"/>
            <p14:sldId id="323"/>
            <p14:sldId id="307"/>
            <p14:sldId id="318"/>
            <p14:sldId id="319"/>
            <p14:sldId id="324"/>
          </p14:sldIdLst>
        </p14:section>
        <p14:section name="Untitled Section" id="{8579FDFE-D0B7-4C1C-AAAD-4B8D6242BA4B}">
          <p14:sldIdLst>
            <p14:sldId id="311"/>
            <p14:sldId id="321"/>
            <p14:sldId id="322"/>
            <p14:sldId id="291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howGuides="1">
      <p:cViewPr varScale="1">
        <p:scale>
          <a:sx n="84" d="100"/>
          <a:sy n="84" d="100"/>
        </p:scale>
        <p:origin x="1454" y="72"/>
      </p:cViewPr>
      <p:guideLst>
        <p:guide orient="horz" pos="2160"/>
        <p:guide pos="28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667C-7F5C-4A01-9412-7A243AC31FCF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CF30E-E3F6-4DFA-986E-367F44A4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023C4-7BB1-4114-BA21-980A47861167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FC1D9-5BD0-4DE7-BF48-AD1B2C032B8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2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3660-62B5-4736-B1DE-66E37AC81563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A418-B0F2-442C-9F96-347A5FAED8B9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454C-21E7-4CA7-9165-B62343ADCAA3}" type="datetime1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4560-1EC5-478D-8C47-879D22B1EEF8}" type="datetime1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91EA-E25A-4F95-9FFE-DFC104E4BA1D}" type="datetime1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9953-3DFA-42FF-AFBE-054B72091E51}" type="datetime1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D1A1-B90E-4727-9A10-8E684D248352}" type="datetime1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697-CA0B-4B1B-AE47-41928510556B}" type="datetime1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BD63-B405-418A-8711-D2F9F217DD21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1629-B283-4E04-9A84-2D4A526D9ED6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463B-4783-470D-8BFB-BDA6CFFB6515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A3A97-690C-481D-B0C5-B7E8478245E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81" y="1996095"/>
            <a:ext cx="8610600" cy="1799010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Phase 1 Presentation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/>
              <a:t>“</a:t>
            </a:r>
            <a:r>
              <a:rPr lang="en-IN" sz="3200" b="1" dirty="0">
                <a:latin typeface="Times New Roman" panose="02020603050405020304" pitchFamily="18" charset="0"/>
              </a:rPr>
              <a:t>IOT- Based Medical Kit For Paralyzed Patients</a:t>
            </a:r>
            <a:r>
              <a:rPr lang="en-US" sz="3200" b="1" dirty="0"/>
              <a:t>”</a:t>
            </a:r>
            <a:br>
              <a:rPr lang="en-US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1600" y="4944308"/>
            <a:ext cx="3352799" cy="1623636"/>
          </a:xfrm>
        </p:spPr>
        <p:txBody>
          <a:bodyPr>
            <a:normAutofit fontScale="77500" lnSpcReduction="20000"/>
          </a:bodyPr>
          <a:lstStyle/>
          <a:p>
            <a:endParaRPr lang="en-US" sz="2000" b="1" dirty="0">
              <a:solidFill>
                <a:srgbClr val="000000"/>
              </a:solidFill>
              <a:ea typeface="Calibri" panose="020F0502020204030204"/>
            </a:endParaRPr>
          </a:p>
          <a:p>
            <a:endParaRPr lang="en-US" sz="2000" dirty="0">
              <a:solidFill>
                <a:srgbClr val="000000"/>
              </a:solidFill>
              <a:ea typeface="Calibri" panose="020F0502020204030204"/>
            </a:endParaRPr>
          </a:p>
          <a:p>
            <a:pPr algn="just"/>
            <a:r>
              <a:rPr lang="en-US" sz="2900" dirty="0">
                <a:solidFill>
                  <a:srgbClr val="000000"/>
                </a:solidFill>
                <a:ea typeface="Calibri" panose="020F0502020204030204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Under the Guidance of</a:t>
            </a:r>
            <a:endParaRPr lang="en-IN" sz="26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algn="just"/>
            <a:r>
              <a:rPr lang="en-IN" sz="2900" b="1" dirty="0">
                <a:solidFill>
                  <a:srgbClr val="000000"/>
                </a:solidFill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 Mr. Harsha C J</a:t>
            </a:r>
            <a:endParaRPr lang="en-IN" sz="29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algn="just"/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Asst. Prof., Dept. of ECE</a:t>
            </a:r>
          </a:p>
          <a:p>
            <a:pPr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7481" y="4267200"/>
            <a:ext cx="457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ea typeface="Calibri" panose="020F0502020204030204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/>
                <a:ea typeface="Calibri" panose="020F0502020204030204"/>
              </a:rPr>
              <a:t> </a:t>
            </a:r>
            <a:endParaRPr lang="en-IN" sz="2000" dirty="0">
              <a:solidFill>
                <a:srgbClr val="000000"/>
              </a:solidFill>
              <a:latin typeface="Times New Roman" panose="02020603050405020304"/>
              <a:ea typeface="Calibri" panose="020F0502020204030204"/>
            </a:endParaRPr>
          </a:p>
        </p:txBody>
      </p:sp>
      <p:pic>
        <p:nvPicPr>
          <p:cNvPr id="9" name="Google Shape;94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510315" y="368551"/>
            <a:ext cx="1100285" cy="8506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/>
          <p:nvPr/>
        </p:nvSpPr>
        <p:spPr>
          <a:xfrm>
            <a:off x="1105667" y="3149222"/>
            <a:ext cx="6324600" cy="2313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Presented by</a:t>
            </a:r>
            <a:endParaRPr lang="en-IN" sz="18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3318225" y="5156085"/>
            <a:ext cx="1973934" cy="563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 dirty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18225" y="3598128"/>
            <a:ext cx="1523095" cy="76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66792" y="3863846"/>
          <a:ext cx="4876800" cy="1483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29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Jeevan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4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4JK24EC401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Sinchan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4JK23EC049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Raksha Rao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4JK23EC034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Chirag  G J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4JK23EC010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Picture 12" descr="C:\Users\User\AppData\Local\Microsoft\Windows\INetCache\Content.Word\header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228600"/>
            <a:ext cx="6947774" cy="114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52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0350"/>
            <a:ext cx="7886700" cy="4666613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 23-08-2025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2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93027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3</a:t>
            </a:fld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7544" y="1268760"/>
            <a:ext cx="8077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monitoring for paralyzed patients requires constant support and timely medical attention.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depend on continuous human supervision, which often causes delays in emergency response.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these challenges by providing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Medical Kit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tracking and communication.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4196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kern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Paralyzed patients cannot effectively communicate their health needs. Lack of continuous monitoring of vital signs like temperature, heart rate, and IV drip.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400" kern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kern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observation by caregivers is time-consuming and prone to errors. Delayed detection of emergencies can risk patient safety.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400" kern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kern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smart IoT-based solution to provide real-time monitoring and instant alerts. There is a need for an affordable, IoT-based medical kit that enables real-time monitoring and effective communication. </a:t>
            </a:r>
            <a:endParaRPr lang="en-IN" sz="2400" kern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698"/>
            <a:ext cx="8229600" cy="111350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406" y="1143000"/>
            <a:ext cx="8229600" cy="5029200"/>
          </a:xfrm>
        </p:spPr>
        <p:txBody>
          <a:bodyPr>
            <a:normAutofit/>
          </a:bodyPr>
          <a:lstStyle/>
          <a:p>
            <a:pPr lvl="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medical kit tailored to the needs of paralyzed patients.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sensors for monitoring body temperature, heart rate, and IV fluid levels.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smart gloves to capture simple gestures for patient–caregiver communication.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cloud-connected system to share real-time health data with medical staff.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automatic alert mechanism for emergency health situations.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patient independence while reducing caregiver workload.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AJIET </a:t>
            </a:r>
            <a:r>
              <a:rPr lang="en-IN" dirty="0" err="1"/>
              <a:t>Mangaluru</a:t>
            </a:r>
            <a:endParaRPr lang="en-I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4861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b="1" dirty="0"/>
              <a:t>Survey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648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4" name="Content Placeholder 6"/>
          <p:cNvGraphicFramePr/>
          <p:nvPr>
            <p:extLst>
              <p:ext uri="{D42A27DB-BD31-4B8C-83A1-F6EECF244321}">
                <p14:modId xmlns:p14="http://schemas.microsoft.com/office/powerpoint/2010/main" val="3518962726"/>
              </p:ext>
            </p:extLst>
          </p:nvPr>
        </p:nvGraphicFramePr>
        <p:xfrm>
          <a:off x="143508" y="836712"/>
          <a:ext cx="8856984" cy="388924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44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1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0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Author [citation]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Challenges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Remote Health Monitoring System for Patients</a:t>
                      </a: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Multiple health sensors ,cloud dashboard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Continuous data access for doctors, emergency alerts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privacy, security concerns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24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Wearable 2.0: Enabling Human–Cloud Integration in Next Generation Healthcare Systems</a:t>
                      </a: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Smart gloves with flex sensors connected to microcontroller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Patient–caregiver communication via gestures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of gesture detection</a:t>
                      </a: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53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Health Monitoring of Elderly Through Wearable Sensors</a:t>
                      </a: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Load cell sensor with ESP8266, cloud integration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Automatic IV drip monitoring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Alerts Sensor calibration, reliability</a:t>
                      </a: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6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35200" marR="3520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Internet of Things for Health Care: A Comprehensive Survey</a:t>
                      </a:r>
                      <a:endParaRPr lang="en-IN" sz="13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Combined monitoring of vitals &amp; IoT integration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Multi-sensor kit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Portability Cost, scalability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medical kit consists of following functional units 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follows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sensors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temperature monitoring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BPM Monitoring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I V Drip Monitoring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8</a:t>
            </a:fld>
            <a:endParaRPr lang="en-IN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-53975" y="-245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sensor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 sensors detect finger bending.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MCU processes sensor data.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gestures are mapped to patient needs.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sent to caregivers via Wi-Fi.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75" y="2132856"/>
            <a:ext cx="7219049" cy="1661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76335"/>
            <a:ext cx="8229600" cy="86836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Body temperature monitoring system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LM35 sensor measures patient’s body temperature.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fed to Node MCU for processing.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displayed on LCD and uploaded to cloud.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generated if temperature crosses threshold.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9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060848"/>
            <a:ext cx="7279626" cy="1976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3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865" y="1268760"/>
            <a:ext cx="8229600" cy="491510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BPM Monitoring System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9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MAX30100 sensor measures pulse rate and oxygen saturation.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9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Node MCU reads sensor values and filters noise.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9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Data is shown on LCD and transmitted to cloud.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9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Emergency alerts triggered for abnormal readings.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10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88840"/>
            <a:ext cx="7028920" cy="1872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400" b="1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I V Drip Monitoring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 Block diagram 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Load Cell with HX711 measures IV fluid weight.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Node MCU continuously monitors fluid reduction rate.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LCD displays real-time IV level.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Buzzer and cloud alerts activated when fluid is low or empty.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1844824"/>
            <a:ext cx="7704856" cy="1999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742" y="-168607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12</a:t>
            </a:fld>
            <a:endParaRPr lang="en-IN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4742" y="1027038"/>
            <a:ext cx="8001000" cy="496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just">
              <a:buNone/>
            </a:pPr>
            <a:r>
              <a:rPr lang="en-IN" sz="2200" dirty="0">
                <a:effectLst/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1.</a:t>
            </a:r>
            <a:r>
              <a:rPr lang="en-US" sz="2200" b="1" dirty="0"/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IoT-Based Medical Kit for Paralyzed Patients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continuously monitor the patient’s body temperature, pulse rate.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Caregivers and medical professionals can access real-time data through a cloud dashboard.</a:t>
            </a:r>
          </a:p>
          <a:p>
            <a:pPr marL="0" indent="0" algn="just">
              <a:buNone/>
            </a:pPr>
            <a:r>
              <a:rPr lang="en-US" sz="2200" dirty="0"/>
              <a:t>2.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Alerts &amp; Safety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emergency alerts (email, SMS, phone call) will be generated on abnormal readings or patient gestures.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enhanced patient safety and timely medical intervention</a:t>
            </a:r>
          </a:p>
          <a:p>
            <a:pPr marL="0" indent="0" algn="just">
              <a:buNone/>
            </a:pPr>
            <a:r>
              <a:rPr lang="en-US" sz="2200" dirty="0"/>
              <a:t>3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 of Care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improve the quality of care in home, hospital, and rehabilitation environments.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families to remotely monitor paralyzed patients.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Reduces manual patient monitoring workload for nurses.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 Centers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Tracks patient recovery and ensures timely support.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 alerts ensure quick medical attention during critical conditions.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Doctors can access real-time patient data from anywhere.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Healthcare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be extended to monitor elderly or chronically ill patients.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23-08-2025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14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260648"/>
            <a:ext cx="7772400" cy="115212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Line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239660"/>
              </p:ext>
            </p:extLst>
          </p:nvPr>
        </p:nvGraphicFramePr>
        <p:xfrm>
          <a:off x="457800" y="1412775"/>
          <a:ext cx="8291265" cy="40619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1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799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596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Project planning research and proposal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2nd week of August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155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en-GB" dirty="0"/>
                        <a:t>Literature survey, Design of functional blocks.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18th -21th August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dirty="0"/>
                        <a:t>Implementation of</a:t>
                      </a:r>
                      <a:r>
                        <a:rPr lang="en-IN" altLang="en-US" dirty="0"/>
                        <a:t> Smart Gesture and Body Temperature Monitoring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1st week of October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5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Implementation of Smart BPM Monitoring and IV drips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2nd Week of November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74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Submission Of Detailed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2nd Week of November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5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ECE PROJECT EXPO FINAL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2nd Week of November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9493"/>
            <a:ext cx="8229600" cy="121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D8B2-8E28-4D7B-9561-E79A365D0C62}" type="datetime1">
              <a:rPr lang="en-IN" smtClean="0"/>
              <a:t>10-10-2025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15</a:t>
            </a:fld>
            <a:endParaRPr lang="en-IN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91118" y="1375900"/>
            <a:ext cx="84582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Albahri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“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Remote Health Monitoring System for Patients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IEEE Access, vol. 8, pp. 216–229, 2020.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Chen, Y. Ma, Y. Li, D. Wu, Y. Zhang, and C. Youn, “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2.0: Enabling Human–Cloud Integration in Next Generation Healthcare Systems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IEEE Communications Magazine, vol. 55, no. 1, pp. 54–61, 2017.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Al-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Khafajiy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Baker, et al., “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Health Monitoring of Elderly Through Wearable Sensors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Future Generation Computer Systems, vol. 98, pp. 89–96, 2019.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R. Islam, D. Kwak, M. Hossain, et al., “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of Things for Health Care: A Comprehensive Survey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IEEE Access, vol. 3, pp. 678–708, 2015.6.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THANK YOU</a:t>
            </a:r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0490-F122-4C64-8A27-519045F0309A}" type="datetime1">
              <a:rPr lang="en-IN" smtClean="0"/>
              <a:t>10-10-2025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IOT- Based Smart Medical Kit For Paralyzed Patient</Template>
  <TotalTime>222</TotalTime>
  <Words>1090</Words>
  <Application>Microsoft Office PowerPoint</Application>
  <PresentationFormat>On-screen Show (4:3)</PresentationFormat>
  <Paragraphs>236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Mini Project Phase 1 Presentation   “IOT- Based Medical Kit For Paralyzed Patients”  </vt:lpstr>
      <vt:lpstr>Contents</vt:lpstr>
      <vt:lpstr>Introduction</vt:lpstr>
      <vt:lpstr>Problem Statement</vt:lpstr>
      <vt:lpstr>Objectives</vt:lpstr>
      <vt:lpstr>Literature Survey</vt:lpstr>
      <vt:lpstr>Methodology</vt:lpstr>
      <vt:lpstr>Methodology</vt:lpstr>
      <vt:lpstr>Methodology</vt:lpstr>
      <vt:lpstr>Methodology</vt:lpstr>
      <vt:lpstr>Methodology</vt:lpstr>
      <vt:lpstr>Expected Outcome</vt:lpstr>
      <vt:lpstr>Applications</vt:lpstr>
      <vt:lpstr>Time Line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Presentation   “IOT- Based Smart Medical Kit For Paralyzed Patients”</dc:title>
  <dc:creator>Chirag G J</dc:creator>
  <cp:lastModifiedBy>Chirag G J</cp:lastModifiedBy>
  <cp:revision>13</cp:revision>
  <dcterms:created xsi:type="dcterms:W3CDTF">2025-08-19T17:09:00Z</dcterms:created>
  <dcterms:modified xsi:type="dcterms:W3CDTF">2025-10-10T09:27:05Z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D1376B6371DD48C89729CE479C433171_12</vt:lpwstr>
  </property>
  <property fmtid="{D5CDD505-2E9C-101B-9397-08002B2CF9AE}" pid="3" name="KSOProductBuildVer">
    <vt:lpwstr>2057-12.2.0.21936</vt:lpwstr>
  </property>
</Properties>
</file>